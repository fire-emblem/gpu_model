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0E0E0"/>
                </a:solidFill>
                <a:latin typeface="Microsoft YaHei"/>
              </a:defRPr>
            </a:pPr>
            <a:r>
              <a:t>gpu_model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0A0C0"/>
                </a:solidFill>
                <a:latin typeface="Microsoft YaHei"/>
              </a:defRPr>
            </a:pPr>
            <a:r>
              <a:t>面向 AMD/GCN 架构的轻量级 HIP Kernel 执行与分析框架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C0"/>
                </a:solidFill>
                <a:latin typeface="Microsoft YaHei"/>
              </a:defRPr>
            </a:pPr>
            <a:r>
              <a:t>GPU Modeling Team  |  2026-05-07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2926080"/>
            <a:ext cx="3657600" cy="381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0E0E0"/>
                </a:solidFill>
                <a:latin typeface="Microsoft YaHei"/>
              </a:defRPr>
            </a:pPr>
            <a:r>
              <a:t>目录</a:t>
            </a:r>
          </a:p>
        </p:txBody>
      </p:sp>
      <p:sp>
        <p:nvSpPr>
          <p:cNvPr id="3" name="Oval 2"/>
          <p:cNvSpPr/>
          <p:nvPr/>
        </p:nvSpPr>
        <p:spPr>
          <a:xfrm>
            <a:off x="1097280" y="1463040"/>
            <a:ext cx="411480" cy="41148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14884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项目定位与目标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2057400"/>
            <a:ext cx="411480" cy="41148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08280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五层架构总览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2651760"/>
            <a:ext cx="411480" cy="41148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67716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Runtime 层 — HIP 兼容与 LD_PRELOAD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3246120"/>
            <a:ext cx="411480" cy="41148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27152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Program 层 — 代码对象加载与解码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3840480"/>
            <a:ext cx="411480" cy="41148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86588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Instruction 层 — GCN ISA 解码与语义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4434840"/>
            <a:ext cx="411480" cy="41148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4602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Execution 层 — 三种执行引擎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5029200"/>
            <a:ext cx="411480" cy="41148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05460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GPU 架构建模 — AP/PEU/Wave 层级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5623560"/>
            <a:ext cx="411480" cy="41148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564896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Wave 生命周期与状态机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6217920"/>
            <a:ext cx="411480" cy="41148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624332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Cycle 模型 Tick 驱动算法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6812280"/>
            <a:ext cx="411480" cy="41148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683768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内存系统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7406640"/>
            <a:ext cx="411480" cy="41148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74320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Trace/Debug 系统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8001000"/>
            <a:ext cx="411480" cy="411480"/>
          </a:xfrm>
          <a:prstGeom prst="ellipse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802640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应用场景与工程约束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项目定位与目标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项目定位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轻量级 C++ 功能模型与 naive cycle 模型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面向 AMD/GCN 风格 GPU kernel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无需真实 GPU 硬件即可执行和分析 HIP kernel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支持 operator library 优化、compiler codegen 比较、硬件参数评估、行为验证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四大应用场景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算子库优化 — 在模型中分析 kernel 行为，指导优化方向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编译器 codegen 比较 — 对比不同编译策略的执行特征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硬件参数评估 — 修改架构参数观察影响（wave slots、cache latency）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HIP/AMDGPU kernel 行为验证 — 验证 kernel 逻辑正确性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五层架构总览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五层架构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Runtime 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Program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6616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Instruction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6344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Execution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76072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Wave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63040" y="3108960"/>
            <a:ext cx="0" cy="777240"/>
          </a:xfrm>
          <a:prstGeom prst="line">
            <a:avLst/>
          </a:prstGeom>
          <a:ln w="25400">
            <a:solidFill>
              <a:srgbClr val="4FC3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63040" y="4206240"/>
            <a:ext cx="0" cy="777240"/>
          </a:xfrm>
          <a:prstGeom prst="line">
            <a:avLst/>
          </a:prstGeom>
          <a:ln w="25400">
            <a:solidFill>
              <a:srgbClr val="4FC3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463040" y="5303520"/>
            <a:ext cx="0" cy="777240"/>
          </a:xfrm>
          <a:prstGeom prst="line">
            <a:avLst/>
          </a:prstGeom>
          <a:ln w="25400">
            <a:solidFill>
              <a:srgbClr val="4FC3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五层职责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Runtime — 接收 HIP API 调用，管理 device/memory/module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Program — 加载 AMDGPU 代码对象，构建 ProgramObject/ExecutableKernel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Instruction — GCN ISA 二进制解码，语义分发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Execution — 驱动 block/wave 调度，执行指令语义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Wave — 最小执行单元，包含完整执行上下文（PC/寄存器/exec mask）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Runtime 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Runtime 三层结构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HipRuntime — HIP 兼容层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提供 hipMalloc/hipMemcpy/hipLaunchKernel 等 C ABI 入口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LD_PRELOAD 拦截：真实 HIP 程序无需修改即可运行在模型上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Fake device pointer 映射：虚拟设备地址 &lt;-&gt; 模型内存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Host 代码原生执行，kernel 调用被转发到 ModelRuntime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ModelRuntime — 核心实现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统一管理 Device、Memory、Module、Kernel Launch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Module 加载与 kernel 提取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Kernel 参数打包（KernargPacker）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LaunchConfig 解析（grid/block 维度、shared memory 大小）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Program 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代码对象加载链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HIP .out / .hipfatbin / 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Parser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6616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Builder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6344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Disasm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76072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Decoder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685800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PO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37160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EK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63040" y="3108960"/>
            <a:ext cx="0" cy="777240"/>
          </a:xfrm>
          <a:prstGeom prst="line">
            <a:avLst/>
          </a:prstGeom>
          <a:ln w="25400">
            <a:solidFill>
              <a:srgbClr val="4FC3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63040" y="4206240"/>
            <a:ext cx="0" cy="777240"/>
          </a:xfrm>
          <a:prstGeom prst="line">
            <a:avLst/>
          </a:prstGeom>
          <a:ln w="25400">
            <a:solidFill>
              <a:srgbClr val="4FC3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63040" y="5303520"/>
            <a:ext cx="0" cy="777240"/>
          </a:xfrm>
          <a:prstGeom prst="line">
            <a:avLst/>
          </a:prstGeom>
          <a:ln w="25400">
            <a:solidFill>
              <a:srgbClr val="4FC3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63040" y="6400800"/>
            <a:ext cx="0" cy="777240"/>
          </a:xfrm>
          <a:prstGeom prst="line">
            <a:avLst/>
          </a:prstGeom>
          <a:ln w="25400">
            <a:solidFill>
              <a:srgbClr val="4FC3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463040" y="1691640"/>
            <a:ext cx="2011680" cy="5166360"/>
          </a:xfrm>
          <a:prstGeom prst="line">
            <a:avLst/>
          </a:prstGeom>
          <a:ln w="25400">
            <a:solidFill>
              <a:srgbClr val="4FC3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ProgramObject → ExecutableKernel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ProgramObject — 静态程序表示（assembly text + metadata + code bytes + decoded instructions）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ExecutableKernel — Launch-ready kernel（Instruction list + labels + PC index）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EncodedProgramObject — 编码后的代码对象表示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ELF 解析 → GCN text 解析 → 指令解码 → 构建可执行体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Instruction 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GCN ISA 解码与语义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ISA 定义 — GCN opcode 表（SOP1/SOP2/VOP1/VOP2/VOP3/SMEM/VMEM/DS/FLAT/MUBUF/MTBUF/MFMA...）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Binary Decoding — 从 AMDGPU ELF 二进制流解码指令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Semantics — 指令语义处理器（scalar ALU / vector ALU / memory / branch / sync / tensor）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Operand — 操作数访问器（SGPR/VGPR/AGPR/ACC/SCC/VCC/EXEC）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Semantics / OpPlan 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每条指令不直接修改状态，而是通过 Semantics::BuildPlan() 生成 OpPlan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OpPlan = 执行计划：issue_cycles + 寄存器写计划 + 内存请求 + 控制流标记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解耦语义描述与状态修改，trace 可在 commit 时精确记录所有变化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统一 apply 流程：BuildPlan → apply register/memory → emit trace event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Execution 层 — 三种执行引擎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三种执行模式对比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模式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特点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调度方式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用途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Functional st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单线程确定性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4-cycle issue quantum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语义参考基线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Functional mt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多线程并行（marl fibers）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AP 级并行 + wave 可抢占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性能分析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Cycle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Tick-driven 状态机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global_cycle 全局调度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Cycle 级建模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Functional st vs mt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st 模式：单线程顺序执行，4-cycle issue quantum 表达指令间隔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mt 模式：每个 AP 独立 scheduler，marl fiber + 线程池驱动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mt 调度：从 ApScheduler 取 runnable/resumed wave → ExecuteWave → Reconcile → Requeue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Barrier 通过 atomic counter 实现（arrived + completed == expected）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Memory 操作通过 global mutex 保护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GPU 架构建模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硬件层级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Device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DPC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6616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6344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PEU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76072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Wave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63040" y="3108960"/>
            <a:ext cx="0" cy="777240"/>
          </a:xfrm>
          <a:prstGeom prst="line">
            <a:avLst/>
          </a:prstGeom>
          <a:ln w="25400">
            <a:solidFill>
              <a:srgbClr val="4FC3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63040" y="4206240"/>
            <a:ext cx="0" cy="777240"/>
          </a:xfrm>
          <a:prstGeom prst="line">
            <a:avLst/>
          </a:prstGeom>
          <a:ln w="25400">
            <a:solidFill>
              <a:srgbClr val="4FC3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463040" y="5303520"/>
            <a:ext cx="0" cy="777240"/>
          </a:xfrm>
          <a:prstGeom prst="line">
            <a:avLst/>
          </a:prstGeom>
          <a:ln w="25400">
            <a:solidFill>
              <a:srgbClr val="4FC3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GpuArchSpec 架构参数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wave_size = 64（GCN 标准）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拓扑：dpc_count / ap_per_dpc / peu_per_ap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并发：max_resident_waves / max_issuable_waves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资源：resident_wave_slots_per_peu / barrier_slots_per_ap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时序：LaunchTimingSpec（kernel/block/wave 各阶段延迟）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缓存：CacheModelSpec（L1/L2/DRAM latency）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Shared：SharedBankModelSpec（bank conflict penalty）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Wave 生命周期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Wave 状态转换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Generate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Disp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6616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Slot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6344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Active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76072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Issue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685800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Wait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37160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Arrive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246888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Exit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63040" y="3108960"/>
            <a:ext cx="0" cy="777240"/>
          </a:xfrm>
          <a:prstGeom prst="line">
            <a:avLst/>
          </a:prstGeom>
          <a:ln w="25400">
            <a:solidFill>
              <a:srgbClr val="4FC3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63040" y="4206240"/>
            <a:ext cx="0" cy="777240"/>
          </a:xfrm>
          <a:prstGeom prst="line">
            <a:avLst/>
          </a:prstGeom>
          <a:ln w="25400">
            <a:solidFill>
              <a:srgbClr val="4FC3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63040" y="5303520"/>
            <a:ext cx="0" cy="777240"/>
          </a:xfrm>
          <a:prstGeom prst="line">
            <a:avLst/>
          </a:prstGeom>
          <a:ln w="25400">
            <a:solidFill>
              <a:srgbClr val="4FC3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463040" y="6400800"/>
            <a:ext cx="0" cy="777240"/>
          </a:xfrm>
          <a:prstGeom prst="line">
            <a:avLst/>
          </a:prstGeom>
          <a:ln w="25400">
            <a:solidFill>
              <a:srgbClr val="4FC3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463040" y="1691640"/>
            <a:ext cx="2011680" cy="5166360"/>
          </a:xfrm>
          <a:prstGeom prst="line">
            <a:avLst/>
          </a:prstGeom>
          <a:ln w="25400">
            <a:solidFill>
              <a:srgbClr val="4FC3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463040" y="2011680"/>
            <a:ext cx="2011680" cy="2971800"/>
          </a:xfrm>
          <a:prstGeom prst="line">
            <a:avLst/>
          </a:prstGeom>
          <a:ln w="25400">
            <a:solidFill>
              <a:srgbClr val="4FC3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463040" y="2788920"/>
            <a:ext cx="2011680" cy="2971800"/>
          </a:xfrm>
          <a:prstGeom prst="line">
            <a:avLst/>
          </a:prstGeom>
          <a:ln w="25400">
            <a:solidFill>
              <a:srgbClr val="4FC3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WaveContext 与关键语义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FC3F7"/>
                </a:solidFill>
                <a:latin typeface="Microsoft YaHei"/>
              </a:defRPr>
            </a:pPr>
            <a:r>
              <a:t>WaveContext 组成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PC — 程序计数器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SGPR / VGPR / AGPR — 寄存器文件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exec mask / cmask / smask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Private Memory — wave 私有内存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pending_memory_ops — 计数器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barrier_state — 同步状态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run_state / wait_reason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FC3F7"/>
                </a:solidFill>
                <a:latin typeface="Microsoft YaHei"/>
              </a:defRPr>
            </a:pPr>
            <a:r>
              <a:t>关键语义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arrive_resume = 条件满足，可被调度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不保证同 cycle issue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WaveStep = 真正发射指令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resume 与 step 间隔 = 真实调度延迟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  <a:latin typeface="Microsoft YaHei"/>
              </a:defRPr>
            </a:pPr>
            <a:r>
              <a:t>Wave 状态机：Runnable ↔ Waiting → Completed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1280160"/>
            <a:ext cx="25400" cy="4572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Cycle 模型 Tick 驱动算法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Cycle 模型核心循环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while (!all_waves_exited &amp;&amp; !events_empty) {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  1. RunReady timed events（memory arrive / barrier release）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  2. FillDispatchWindow — 新 wave 进入 active window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  3. For each PEU slot: Selection gate → Build candidates → IssueScheduler → BuildPlan → Schedule commit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  4. ++cycle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A0C0"/>
                </a:solidFill>
                <a:latin typeface="Consolas"/>
              </a:defRPr>
            </a:pPr>
            <a:r>
              <a:t>Tick-driven: 每个 cycle 推进一步状态机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Cycle 模型关键机制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EventQueue — future event 按 cycle 排序触发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IssueScheduler — RoundRobin / policy 从 resident slots 选 bundle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AsyncScoreboard — 跟踪 pending memory ops（waitcnt 依赖）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BarrierResourcePool — 管理 barrier slot 资源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CacheModel — L1/L2 cache hit/miss latency 建模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SharedBankModel — bank conflict penalty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内存系统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8 类 Memory Pool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7680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Pool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语义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分配方式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Global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设备全局内存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hipMalloc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Constant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常量数据段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代码对象加载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Shared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Block 内共享内存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kernel launch 分配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Private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Wave 内私有内存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kernel launch 分配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Kernarg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Kernel 参数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launch 时打包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Code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代码段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代码对象加载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RawData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原始数据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内部使用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Managed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Managed memory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CCCCC"/>
                          </a:solidFill>
                          <a:latin typeface="Microsoft YaHei"/>
                        </a:defRPr>
                      </a:pPr>
                      <a:r>
                        <a:t>hipMallocManaged</a:t>
                      </a:r>
                    </a:p>
                  </a:txBody>
                  <a:tcPr>
                    <a:solidFill>
                      <a:srgbClr val="2A2A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地址映射机制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HipRuntime 维护 fake device pointer → model address 映射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MemorySystem 用 std::vector&lt;std::byte&gt; 做 pool 存储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Lane-based access：每条 lane 独立读写（对应 SIMT 执行模型）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Shared memory 按 block 分配，wave 间共享同一 pool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Constant memory 从代码对象 .hsaco 加载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Trace / Debug 系统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三层 Debug 架构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Execution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137160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Recorder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371600"/>
            <a:ext cx="1463040" cy="640080"/>
          </a:xfrm>
          <a:prstGeom prst="roundRect">
            <a:avLst/>
          </a:prstGeom>
          <a:solidFill>
            <a:srgbClr val="2A2A45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E0E0"/>
                </a:solidFill>
                <a:latin typeface="Microsoft YaHei"/>
              </a:defRPr>
            </a:pPr>
            <a:r>
              <a:t>Timeline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06240" y="1691640"/>
            <a:ext cx="1280160" cy="0"/>
          </a:xfrm>
          <a:prstGeom prst="line">
            <a:avLst/>
          </a:prstGeom>
          <a:ln w="25400">
            <a:solidFill>
              <a:srgbClr val="4FC3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关键 Trace 事件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WaveLaunch / ActivePromote / IssueSelect / WaveStep / Commit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MemoryAccess (load_issue/store_issue) / MemoryArrive / WaveArrive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WaitStall / SwitchAway / SwitchStall / WaveResume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BarrierArrive / BarrierRelease / WaveExit / BlockRetire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输出：trace.txt / trace.jsonl / timeline.perfetto.json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应用场景与工程约束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Cycle Stats 统计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total_cycles / active_cycles / idle_cycles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waves_launched / waves_completed / instructions_executed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global/shared/private memory load/store count + bytes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按指令类别：ScalarAlu / VectorAlu / ScalarMem / VectorMem / Branch / Sync / Tensor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ProgramCycleTracker 做 tick-by-tick 聚合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0E0E0"/>
                </a:solidFill>
                <a:latin typeface="Microsoft YaHei"/>
              </a:defRPr>
            </a:pPr>
            <a:r>
              <a:t>工程约束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381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Trace 不反推业务：先状态变化 → 再 event → 最后 trace 消费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Cycle 是模型时间，不是物理时间，不可直接等价真实硬件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Runtime 三层单向：HipRuntime → ModelRuntime → ExecEngine，禁止反向依赖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Cycle 不区分 st/mt：差异化行为通过资源参数/timing 参数/issue policy 表达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  <a:latin typeface="Microsoft YaHei"/>
              </a:defRPr>
            </a:pPr>
            <a:r>
              <a:t>新行为先落 engine/state machine，再接 trace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E0E0E0"/>
                </a:solidFill>
                <a:latin typeface="Microsoft YaHei"/>
              </a:defRPr>
            </a:pPr>
            <a:r>
              <a:t>谢谢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0A0C0"/>
                </a:solidFill>
                <a:latin typeface="Microsoft YaHei"/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